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65" r:id="rId6"/>
    <p:sldId id="260" r:id="rId7"/>
    <p:sldId id="261" r:id="rId8"/>
    <p:sldId id="262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256FB4-9023-4307-A9D5-0CE2AF777A62}" v="15" dt="2025-01-13T05:33:05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34B1A-D812-80D2-E608-C7216CE77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5FDBAA-1F3E-535D-1E3F-DD1E6F8F3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F6356-C7C3-ECE7-90EF-394B582B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1E09-FE63-48B9-8F84-2922045E0F65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E3669-89C4-F54F-845F-F7E36087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68B24-D2A7-76C8-F149-8FD95EC5D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832E-6749-46FE-8CE4-43DFC6C42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72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BD75-88B7-6E94-285D-3CC0A2B4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FEEAA-62F4-2E66-EFBC-3D05640BF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3CE4F-84E9-9685-5616-375ECCBA6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1E09-FE63-48B9-8F84-2922045E0F65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FF9FC-0A4A-AAC3-1609-56028CF51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210F8-98B1-1B25-2DF9-848EA2582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832E-6749-46FE-8CE4-43DFC6C42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801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33FE9-6D47-F270-EEC0-3BBC10954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BE53-00CC-519C-3641-9794F08D3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5B1B9-7910-48FC-76A8-BA59915B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1E09-FE63-48B9-8F84-2922045E0F65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18174-ECD9-3DEF-CD5D-1A7A20669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FD887-4F06-6468-BEE8-924A13F6B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832E-6749-46FE-8CE4-43DFC6C42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064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C7127-3B97-80C7-EF1A-B2F22C67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512A7-6593-5A37-2CC4-62E56993E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646DD-5B3A-648D-3541-4283EF2EC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AC822-C492-11A7-218B-886885AA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1E09-FE63-48B9-8F84-2922045E0F65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19D9B-FEA1-A1BF-0B44-2BFABFD8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2C0F0-C25E-9E21-C467-CD5E82F4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832E-6749-46FE-8CE4-43DFC6C42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124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BC513-0E82-4CFE-7EC4-05153D0A1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EFF20-AC40-F5D0-0CAE-008392B7D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2E318-8200-CB87-A75D-934A82B5E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D3BA8-79FD-73CB-9F00-5EC292106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A74109-67CE-BD93-EE47-F81376FA8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9AED00-8388-7B3B-A77D-7AC3AE38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1E09-FE63-48B9-8F84-2922045E0F65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1A678-E5D6-56E8-18B8-3CC0AEBC2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47A2E-92E9-AFFA-9C6C-979BB308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832E-6749-46FE-8CE4-43DFC6C42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835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14889-AD05-5ACD-5618-3B1C8417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EE794-2914-25EB-0A74-74CDB848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1E09-FE63-48B9-8F84-2922045E0F65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17D0A-44A5-29C6-67B7-0783A975E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D89878-78DB-649F-BA61-487D6F620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832E-6749-46FE-8CE4-43DFC6C42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140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DFCF22-C07F-AAD7-BAC0-2A18F08F5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1E09-FE63-48B9-8F84-2922045E0F65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BE4DF-C140-E53A-AC3D-2C577444C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EB71E-DE2C-0967-6302-8A839780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832E-6749-46FE-8CE4-43DFC6C42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91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AB2E-B00B-E96E-6619-4E6B7F8E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3D49F-099E-521A-2BE1-89FB9E77D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9827C-002A-1599-6233-363468591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6C043-996F-3C84-F13F-04BB56A8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1E09-FE63-48B9-8F84-2922045E0F65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04330-0E6A-44E8-3DDF-BE41DC5C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5D3A7-28B2-2BA7-D656-A59B955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832E-6749-46FE-8CE4-43DFC6C42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52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FFF43-12AD-42DE-6727-76ED56CE1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436A28-42C6-3DFD-6855-F9BF9FE15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515BC-DBDF-0E2D-7CA4-3331196B3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DB6F1-AD79-7260-BD6D-AA4BE005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1E09-FE63-48B9-8F84-2922045E0F65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46582-5147-7769-4FF0-3687E475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6520C-611A-3252-6850-B8854A918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832E-6749-46FE-8CE4-43DFC6C42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18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0D2B-CB0E-D87A-8E4B-633A6C77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841B0-0BA2-22CB-C27D-133F28CA4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BEC50-525F-4C26-6ED9-EEC7D748A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1E09-FE63-48B9-8F84-2922045E0F65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80554-F2D0-F57B-D417-F9E69CCA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20CD6-0225-CB0C-0C02-4F784969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832E-6749-46FE-8CE4-43DFC6C42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37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379B6A-5AE8-30F3-8DEE-C54B0735F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473EA-F436-3484-F9E6-D1A8DC8AE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25A83-3444-9CC0-ABEC-1F33CF71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81E09-FE63-48B9-8F84-2922045E0F65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1205C-D625-D623-CB2C-12FB1814E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98792-E9CC-8493-F870-8762B36D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0832E-6749-46FE-8CE4-43DFC6C42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92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7D7E83-7802-BFF5-24A8-F45BCBB9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5973D-F6E3-8AD1-E5AC-9D04ACBB2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D0F58-5483-2912-D7DC-660894863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81E09-FE63-48B9-8F84-2922045E0F65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AF6A3-1AB5-59A7-D9A4-9690AE74C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053AA-6E43-7182-E67C-B624D832B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0832E-6749-46FE-8CE4-43DFC6C42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88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048E-5884-D15C-07CF-032FAA5E57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Garage B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59D56-12D0-4A78-7ABA-B1B7E703C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9212"/>
            <a:ext cx="9144000" cy="1108587"/>
          </a:xfrm>
        </p:spPr>
        <p:txBody>
          <a:bodyPr/>
          <a:lstStyle/>
          <a:p>
            <a:pPr algn="r"/>
            <a:r>
              <a:rPr lang="en-IN" dirty="0"/>
              <a:t>Shailesh Kulkarni</a:t>
            </a:r>
          </a:p>
        </p:txBody>
      </p:sp>
    </p:spTree>
    <p:extLst>
      <p:ext uri="{BB962C8B-B14F-4D97-AF65-F5344CB8AC3E}">
        <p14:creationId xmlns:p14="http://schemas.microsoft.com/office/powerpoint/2010/main" val="1787514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1FF832C-1DB6-BC86-A234-33031F859485}"/>
              </a:ext>
            </a:extLst>
          </p:cNvPr>
          <p:cNvSpPr/>
          <p:nvPr/>
        </p:nvSpPr>
        <p:spPr>
          <a:xfrm>
            <a:off x="983226" y="957387"/>
            <a:ext cx="9399639" cy="54237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A7C5B3-4F70-C635-2CFB-2653260FE9DC}"/>
              </a:ext>
            </a:extLst>
          </p:cNvPr>
          <p:cNvSpPr/>
          <p:nvPr/>
        </p:nvSpPr>
        <p:spPr>
          <a:xfrm>
            <a:off x="4734235" y="1151697"/>
            <a:ext cx="1641986" cy="8192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0D8F54-C1EC-0BCA-B039-D88023843C98}"/>
              </a:ext>
            </a:extLst>
          </p:cNvPr>
          <p:cNvSpPr/>
          <p:nvPr/>
        </p:nvSpPr>
        <p:spPr>
          <a:xfrm>
            <a:off x="4707201" y="5082662"/>
            <a:ext cx="1759959" cy="83857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2B73A-A9A0-49CB-D055-ABA6961E4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51" y="165253"/>
            <a:ext cx="10515600" cy="508359"/>
          </a:xfrm>
        </p:spPr>
        <p:txBody>
          <a:bodyPr>
            <a:normAutofit fontScale="90000"/>
          </a:bodyPr>
          <a:lstStyle/>
          <a:p>
            <a:r>
              <a:rPr lang="en-IN" dirty="0"/>
              <a:t>HLD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85E467-E3D3-64C5-7951-286121ED5927}"/>
              </a:ext>
            </a:extLst>
          </p:cNvPr>
          <p:cNvSpPr/>
          <p:nvPr/>
        </p:nvSpPr>
        <p:spPr>
          <a:xfrm>
            <a:off x="4616245" y="1275503"/>
            <a:ext cx="1641986" cy="8192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Inventory 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FD6EC5-3F20-78CC-E863-E6E2DBAE4D48}"/>
              </a:ext>
            </a:extLst>
          </p:cNvPr>
          <p:cNvSpPr/>
          <p:nvPr/>
        </p:nvSpPr>
        <p:spPr>
          <a:xfrm>
            <a:off x="4514236" y="5228998"/>
            <a:ext cx="1838631" cy="77040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Order 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1749B-7A1A-B0E2-FE41-F01FD79A1261}"/>
              </a:ext>
            </a:extLst>
          </p:cNvPr>
          <p:cNvSpPr/>
          <p:nvPr/>
        </p:nvSpPr>
        <p:spPr>
          <a:xfrm>
            <a:off x="3134031" y="3009273"/>
            <a:ext cx="1107357" cy="80942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API Gateway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72426B-4865-B349-4469-36A7466AF760}"/>
              </a:ext>
            </a:extLst>
          </p:cNvPr>
          <p:cNvSpPr/>
          <p:nvPr/>
        </p:nvSpPr>
        <p:spPr>
          <a:xfrm>
            <a:off x="3134644" y="1390619"/>
            <a:ext cx="1107359" cy="637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 Balancer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702850-3772-35E7-6C34-9FA2622E3C11}"/>
              </a:ext>
            </a:extLst>
          </p:cNvPr>
          <p:cNvSpPr/>
          <p:nvPr/>
        </p:nvSpPr>
        <p:spPr>
          <a:xfrm>
            <a:off x="3048611" y="5281650"/>
            <a:ext cx="1278198" cy="637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 Balancer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CD6FD0B-998E-8441-9BA4-9425808DAEF2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687710" y="2028387"/>
            <a:ext cx="9220" cy="9808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035E6D-030C-4F82-A4F7-C721080ADE58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3687710" y="3818702"/>
            <a:ext cx="0" cy="14629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BD80CF-4E24-8B8A-FBCD-0BAA5C05507C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V="1">
            <a:off x="4242003" y="1685103"/>
            <a:ext cx="374242" cy="2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8DE7C4-BA24-137C-0BBB-738D4931525D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4326809" y="5600534"/>
            <a:ext cx="187427" cy="136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D336882-47C4-2D21-F9CD-2B46EDD93D1A}"/>
              </a:ext>
            </a:extLst>
          </p:cNvPr>
          <p:cNvSpPr/>
          <p:nvPr/>
        </p:nvSpPr>
        <p:spPr>
          <a:xfrm>
            <a:off x="4537590" y="3048301"/>
            <a:ext cx="1838631" cy="77040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Kafka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DA9ADE-223F-D889-607C-03650F5FFE35}"/>
              </a:ext>
            </a:extLst>
          </p:cNvPr>
          <p:cNvSpPr/>
          <p:nvPr/>
        </p:nvSpPr>
        <p:spPr>
          <a:xfrm>
            <a:off x="8629037" y="1970897"/>
            <a:ext cx="1622319" cy="86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Supplier A Order Adaptor Service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F6E469-7FC0-4873-D287-9E39E6C4FFB9}"/>
              </a:ext>
            </a:extLst>
          </p:cNvPr>
          <p:cNvSpPr/>
          <p:nvPr/>
        </p:nvSpPr>
        <p:spPr>
          <a:xfrm>
            <a:off x="8579877" y="5277774"/>
            <a:ext cx="1671479" cy="86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Supplier B Order Adaptor Service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21809F-0604-8899-AEE7-29932978DEE8}"/>
              </a:ext>
            </a:extLst>
          </p:cNvPr>
          <p:cNvSpPr/>
          <p:nvPr/>
        </p:nvSpPr>
        <p:spPr>
          <a:xfrm>
            <a:off x="10599174" y="1943860"/>
            <a:ext cx="1386349" cy="91997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Supplier A Service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E1D04B-7887-3A7A-70E7-F0AD5EACC246}"/>
              </a:ext>
            </a:extLst>
          </p:cNvPr>
          <p:cNvSpPr/>
          <p:nvPr/>
        </p:nvSpPr>
        <p:spPr>
          <a:xfrm>
            <a:off x="10599174" y="5197086"/>
            <a:ext cx="1386349" cy="87506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Supplier B Service</a:t>
            </a:r>
          </a:p>
        </p:txBody>
      </p:sp>
      <p:sp>
        <p:nvSpPr>
          <p:cNvPr id="44" name="Cylinder 43">
            <a:extLst>
              <a:ext uri="{FF2B5EF4-FFF2-40B4-BE49-F238E27FC236}">
                <a16:creationId xmlns:a16="http://schemas.microsoft.com/office/drawing/2014/main" id="{C93C90BF-28CE-B2C0-0120-54BC8CD379DB}"/>
              </a:ext>
            </a:extLst>
          </p:cNvPr>
          <p:cNvSpPr/>
          <p:nvPr/>
        </p:nvSpPr>
        <p:spPr>
          <a:xfrm>
            <a:off x="7192302" y="1146140"/>
            <a:ext cx="1086460" cy="64738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Inventory DB</a:t>
            </a:r>
          </a:p>
        </p:txBody>
      </p:sp>
      <p:sp>
        <p:nvSpPr>
          <p:cNvPr id="45" name="Cylinder 44">
            <a:extLst>
              <a:ext uri="{FF2B5EF4-FFF2-40B4-BE49-F238E27FC236}">
                <a16:creationId xmlns:a16="http://schemas.microsoft.com/office/drawing/2014/main" id="{6E38CAC2-FFF3-3654-8480-84E2AD69ACB6}"/>
              </a:ext>
            </a:extLst>
          </p:cNvPr>
          <p:cNvSpPr/>
          <p:nvPr/>
        </p:nvSpPr>
        <p:spPr>
          <a:xfrm>
            <a:off x="6986438" y="5167583"/>
            <a:ext cx="963554" cy="86590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Order DB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465793F-3EDE-BE41-44DC-2B185D2DB010}"/>
              </a:ext>
            </a:extLst>
          </p:cNvPr>
          <p:cNvCxnSpPr>
            <a:cxnSpLocks/>
            <a:stCxn id="35" idx="3"/>
            <a:endCxn id="44" idx="2"/>
          </p:cNvCxnSpPr>
          <p:nvPr/>
        </p:nvCxnSpPr>
        <p:spPr>
          <a:xfrm flipV="1">
            <a:off x="6376221" y="1469832"/>
            <a:ext cx="816081" cy="914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4BFF291-26AA-41A0-1340-30EC37CFF0E6}"/>
              </a:ext>
            </a:extLst>
          </p:cNvPr>
          <p:cNvCxnSpPr>
            <a:cxnSpLocks/>
            <a:stCxn id="6" idx="3"/>
            <a:endCxn id="45" idx="2"/>
          </p:cNvCxnSpPr>
          <p:nvPr/>
        </p:nvCxnSpPr>
        <p:spPr>
          <a:xfrm>
            <a:off x="6467160" y="5501947"/>
            <a:ext cx="519278" cy="985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5A4B79A-4F63-3906-50E9-BFE22DFE5F64}"/>
              </a:ext>
            </a:extLst>
          </p:cNvPr>
          <p:cNvCxnSpPr>
            <a:cxnSpLocks/>
            <a:stCxn id="4" idx="2"/>
            <a:endCxn id="28" idx="0"/>
          </p:cNvCxnSpPr>
          <p:nvPr/>
        </p:nvCxnSpPr>
        <p:spPr>
          <a:xfrm>
            <a:off x="5437238" y="2094703"/>
            <a:ext cx="19668" cy="953598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89046B8-2D07-4D43-20AE-4EBB05EE2CE4}"/>
              </a:ext>
            </a:extLst>
          </p:cNvPr>
          <p:cNvCxnSpPr>
            <a:cxnSpLocks/>
            <a:stCxn id="28" idx="2"/>
            <a:endCxn id="5" idx="0"/>
          </p:cNvCxnSpPr>
          <p:nvPr/>
        </p:nvCxnSpPr>
        <p:spPr>
          <a:xfrm flipH="1">
            <a:off x="5433552" y="3818702"/>
            <a:ext cx="23354" cy="141029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CFAB86D-BAEA-F16C-A68C-01128C3FC4A1}"/>
              </a:ext>
            </a:extLst>
          </p:cNvPr>
          <p:cNvCxnSpPr>
            <a:cxnSpLocks/>
            <a:stCxn id="28" idx="3"/>
            <a:endCxn id="30" idx="0"/>
          </p:cNvCxnSpPr>
          <p:nvPr/>
        </p:nvCxnSpPr>
        <p:spPr>
          <a:xfrm>
            <a:off x="6376221" y="3433502"/>
            <a:ext cx="3039396" cy="1844272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07BC32B-2C9A-EAE5-49D1-2FD0075FDC05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6376221" y="2403848"/>
            <a:ext cx="2252816" cy="1029654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4573421-BB0F-0F3C-5EEC-2B1328C5D972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10251356" y="2403848"/>
            <a:ext cx="34781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18EEA04-73CC-1FD1-0DF9-47FEE12BD4E2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10251356" y="5706143"/>
            <a:ext cx="347818" cy="45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Cylinder 95">
            <a:extLst>
              <a:ext uri="{FF2B5EF4-FFF2-40B4-BE49-F238E27FC236}">
                <a16:creationId xmlns:a16="http://schemas.microsoft.com/office/drawing/2014/main" id="{8F045CA6-176A-BD1B-77F9-B4AF39A4452C}"/>
              </a:ext>
            </a:extLst>
          </p:cNvPr>
          <p:cNvSpPr/>
          <p:nvPr/>
        </p:nvSpPr>
        <p:spPr>
          <a:xfrm>
            <a:off x="6986438" y="4301681"/>
            <a:ext cx="813583" cy="75299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Order Cache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E7F6DDB-C525-895B-579D-2E4C157B2B2D}"/>
              </a:ext>
            </a:extLst>
          </p:cNvPr>
          <p:cNvCxnSpPr>
            <a:cxnSpLocks/>
            <a:stCxn id="6" idx="3"/>
            <a:endCxn id="96" idx="2"/>
          </p:cNvCxnSpPr>
          <p:nvPr/>
        </p:nvCxnSpPr>
        <p:spPr>
          <a:xfrm flipV="1">
            <a:off x="6467160" y="4678178"/>
            <a:ext cx="519278" cy="8237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Cylinder 99">
            <a:extLst>
              <a:ext uri="{FF2B5EF4-FFF2-40B4-BE49-F238E27FC236}">
                <a16:creationId xmlns:a16="http://schemas.microsoft.com/office/drawing/2014/main" id="{0D7A84E5-77D3-B97E-817A-70CA79EABE52}"/>
              </a:ext>
            </a:extLst>
          </p:cNvPr>
          <p:cNvSpPr/>
          <p:nvPr/>
        </p:nvSpPr>
        <p:spPr>
          <a:xfrm>
            <a:off x="7192302" y="1943861"/>
            <a:ext cx="1165116" cy="54242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Inventory Cache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D41457D-202B-E388-192D-36C77F4EF835}"/>
              </a:ext>
            </a:extLst>
          </p:cNvPr>
          <p:cNvCxnSpPr>
            <a:cxnSpLocks/>
            <a:endCxn id="100" idx="2"/>
          </p:cNvCxnSpPr>
          <p:nvPr/>
        </p:nvCxnSpPr>
        <p:spPr>
          <a:xfrm>
            <a:off x="6376221" y="1616192"/>
            <a:ext cx="816081" cy="5988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94568BE-DEF8-09DC-A12F-A7A400C3DD0E}"/>
              </a:ext>
            </a:extLst>
          </p:cNvPr>
          <p:cNvSpPr/>
          <p:nvPr/>
        </p:nvSpPr>
        <p:spPr>
          <a:xfrm>
            <a:off x="1173730" y="3075590"/>
            <a:ext cx="1469922" cy="637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Garage Web Application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44B949E9-93BF-30BD-6345-9E2AFA684761}"/>
              </a:ext>
            </a:extLst>
          </p:cNvPr>
          <p:cNvCxnSpPr>
            <a:cxnSpLocks/>
            <a:stCxn id="136" idx="3"/>
            <a:endCxn id="8" idx="1"/>
          </p:cNvCxnSpPr>
          <p:nvPr/>
        </p:nvCxnSpPr>
        <p:spPr>
          <a:xfrm>
            <a:off x="2643652" y="3394474"/>
            <a:ext cx="490379" cy="195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7B7AD860-7B81-3385-04EF-7F49C7FE89D2}"/>
              </a:ext>
            </a:extLst>
          </p:cNvPr>
          <p:cNvSpPr txBox="1"/>
          <p:nvPr/>
        </p:nvSpPr>
        <p:spPr>
          <a:xfrm>
            <a:off x="1149469" y="938582"/>
            <a:ext cx="2792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Garage Cloud Solution 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15D2CAE-BC24-E19E-9C8D-F26F29BCB22D}"/>
              </a:ext>
            </a:extLst>
          </p:cNvPr>
          <p:cNvSpPr/>
          <p:nvPr/>
        </p:nvSpPr>
        <p:spPr>
          <a:xfrm>
            <a:off x="3941830" y="4301681"/>
            <a:ext cx="1107357" cy="58293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Cloud Schedular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F91AA0C-634B-AA2B-5635-7E193AA6CA69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4514236" y="3818702"/>
            <a:ext cx="942670" cy="48297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855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1B06-4E4C-5CA4-44C7-5E6558856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2831"/>
          </a:xfrm>
        </p:spPr>
        <p:txBody>
          <a:bodyPr>
            <a:normAutofit fontScale="90000"/>
          </a:bodyPr>
          <a:lstStyle/>
          <a:p>
            <a:r>
              <a:rPr lang="en-IN" dirty="0"/>
              <a:t>Solution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E2374-AC65-90F8-69FE-944AEEB5C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0569"/>
            <a:ext cx="10515600" cy="5086394"/>
          </a:xfrm>
        </p:spPr>
        <p:txBody>
          <a:bodyPr>
            <a:normAutofit/>
          </a:bodyPr>
          <a:lstStyle/>
          <a:p>
            <a:r>
              <a:rPr lang="en-IN" sz="2400" dirty="0"/>
              <a:t>Garage Web Application</a:t>
            </a:r>
          </a:p>
          <a:p>
            <a:r>
              <a:rPr lang="en-IN" sz="2400" dirty="0"/>
              <a:t>API Gateway</a:t>
            </a:r>
          </a:p>
          <a:p>
            <a:r>
              <a:rPr lang="en-IN" sz="2400" dirty="0"/>
              <a:t>Inventory Service</a:t>
            </a:r>
          </a:p>
          <a:p>
            <a:pPr lvl="1"/>
            <a:r>
              <a:rPr lang="en-IN" sz="2000" dirty="0"/>
              <a:t>Database for inventory data</a:t>
            </a:r>
          </a:p>
          <a:p>
            <a:pPr lvl="1"/>
            <a:r>
              <a:rPr lang="en-IN" sz="2000" dirty="0"/>
              <a:t>Redis Cache for inventory data</a:t>
            </a:r>
          </a:p>
          <a:p>
            <a:r>
              <a:rPr lang="en-IN" sz="2400" dirty="0"/>
              <a:t>Order Service</a:t>
            </a:r>
          </a:p>
          <a:p>
            <a:pPr lvl="1"/>
            <a:r>
              <a:rPr lang="en-IN" sz="2000" dirty="0"/>
              <a:t>Database for inventory data</a:t>
            </a:r>
          </a:p>
          <a:p>
            <a:pPr lvl="1"/>
            <a:r>
              <a:rPr lang="en-IN" sz="2000" dirty="0"/>
              <a:t>Redis Cache for inventory data</a:t>
            </a:r>
          </a:p>
          <a:p>
            <a:r>
              <a:rPr lang="en-IN" sz="2400" dirty="0"/>
              <a:t>Supplier A Adaptor Service</a:t>
            </a:r>
          </a:p>
          <a:p>
            <a:r>
              <a:rPr lang="en-IN" sz="2400" dirty="0"/>
              <a:t>Supplier B Adaptor Service</a:t>
            </a:r>
          </a:p>
          <a:p>
            <a:r>
              <a:rPr lang="en-IN" sz="2400" dirty="0"/>
              <a:t>Kafka – For message bus</a:t>
            </a:r>
          </a:p>
          <a:p>
            <a:r>
              <a:rPr lang="en-IN" sz="2400" dirty="0"/>
              <a:t>Cloud Scheduler – Invoking scheduled Lambda function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70139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A96E5-3F71-7408-14CE-ABEB1758C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ED7C3-671B-3F11-C101-9A1E115E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492"/>
            <a:ext cx="10515600" cy="460605"/>
          </a:xfrm>
        </p:spPr>
        <p:txBody>
          <a:bodyPr>
            <a:normAutofit fontScale="90000"/>
          </a:bodyPr>
          <a:lstStyle/>
          <a:p>
            <a:r>
              <a:rPr lang="en-IN" dirty="0"/>
              <a:t>Services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1A9C6-DDF8-B7F4-63E2-FE5EB8AA0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7587"/>
            <a:ext cx="10515600" cy="5951921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Inventory Service</a:t>
            </a:r>
          </a:p>
          <a:p>
            <a:pPr lvl="1"/>
            <a:r>
              <a:rPr lang="en-IN" dirty="0"/>
              <a:t>Exposes REST APIs for the Garage Web Application</a:t>
            </a:r>
          </a:p>
          <a:p>
            <a:pPr lvl="1"/>
            <a:r>
              <a:rPr lang="en-IN" dirty="0"/>
              <a:t>REST API - HTTP PUT /items</a:t>
            </a:r>
          </a:p>
          <a:p>
            <a:pPr lvl="1"/>
            <a:r>
              <a:rPr lang="en-IN" dirty="0"/>
              <a:t>Maintain its own database and cache to store Item details and its inventory details.</a:t>
            </a:r>
          </a:p>
          <a:p>
            <a:pPr lvl="1"/>
            <a:r>
              <a:rPr lang="en-IN" dirty="0"/>
              <a:t>Processes Item inventory updates from end user from API calls and sends to </a:t>
            </a:r>
            <a:r>
              <a:rPr lang="en-IN" dirty="0" err="1"/>
              <a:t>ItemInventory</a:t>
            </a:r>
            <a:r>
              <a:rPr lang="en-IN" dirty="0"/>
              <a:t> Kafka topic to process request in async mode.</a:t>
            </a:r>
          </a:p>
          <a:p>
            <a:pPr lvl="1"/>
            <a:r>
              <a:rPr lang="en-IN" dirty="0"/>
              <a:t>Poll </a:t>
            </a:r>
            <a:r>
              <a:rPr lang="en-IN" dirty="0" err="1"/>
              <a:t>ItemInventory</a:t>
            </a:r>
            <a:r>
              <a:rPr lang="en-IN" dirty="0"/>
              <a:t> Kafka topic and get the Inventory update request and check the items updated inventory value and if required sends order to </a:t>
            </a:r>
            <a:r>
              <a:rPr lang="en-IN" dirty="0" err="1"/>
              <a:t>ItemOrder</a:t>
            </a:r>
            <a:r>
              <a:rPr lang="en-IN" dirty="0"/>
              <a:t> </a:t>
            </a:r>
            <a:r>
              <a:rPr lang="en-IN" dirty="0" err="1"/>
              <a:t>kafka</a:t>
            </a:r>
            <a:r>
              <a:rPr lang="en-IN" dirty="0"/>
              <a:t> topic which will be processed by Order service.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Order Service</a:t>
            </a:r>
          </a:p>
          <a:p>
            <a:pPr lvl="1"/>
            <a:r>
              <a:rPr lang="en-IN" dirty="0"/>
              <a:t>Maintain its own database and cache to store order details.</a:t>
            </a:r>
          </a:p>
          <a:p>
            <a:pPr lvl="1"/>
            <a:r>
              <a:rPr lang="en-IN" dirty="0"/>
              <a:t>Order service polls the Order service </a:t>
            </a:r>
            <a:r>
              <a:rPr lang="en-IN" dirty="0" err="1"/>
              <a:t>kafka</a:t>
            </a:r>
            <a:r>
              <a:rPr lang="en-IN" dirty="0"/>
              <a:t> topic and get the orders for processing, persist order into its database.</a:t>
            </a:r>
          </a:p>
          <a:p>
            <a:pPr lvl="1"/>
            <a:r>
              <a:rPr lang="en-IN" dirty="0"/>
              <a:t>If the order needs to be processed with local supplier then it sends order to </a:t>
            </a:r>
            <a:r>
              <a:rPr lang="en-IN" dirty="0" err="1"/>
              <a:t>SupplierA</a:t>
            </a:r>
            <a:r>
              <a:rPr lang="en-IN" dirty="0"/>
              <a:t> service’s topic for further processing.</a:t>
            </a:r>
          </a:p>
          <a:p>
            <a:pPr lvl="1"/>
            <a:r>
              <a:rPr lang="en-IN" dirty="0"/>
              <a:t>Schedular lambda function at specific time (12 AM) sends message to </a:t>
            </a:r>
            <a:r>
              <a:rPr lang="en-IN" dirty="0" err="1"/>
              <a:t>OrderService</a:t>
            </a:r>
            <a:r>
              <a:rPr lang="en-IN" dirty="0"/>
              <a:t> Topic to process the International Orders in bulk between (12-1 AM).</a:t>
            </a:r>
          </a:p>
          <a:p>
            <a:pPr lvl="1"/>
            <a:r>
              <a:rPr lang="en-IN" dirty="0"/>
              <a:t>International orders sent to Supplier B topic for further processing.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2754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3D1D3-4FAE-AE0C-CC7C-0F3EABF08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7B23-2C89-E05F-E27B-DD994BCC4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492"/>
            <a:ext cx="10515600" cy="460605"/>
          </a:xfrm>
        </p:spPr>
        <p:txBody>
          <a:bodyPr>
            <a:normAutofit fontScale="90000"/>
          </a:bodyPr>
          <a:lstStyle/>
          <a:p>
            <a:r>
              <a:rPr lang="en-IN" dirty="0"/>
              <a:t>Services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B22A8-5EE9-2653-7E87-5750A839E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9097"/>
            <a:ext cx="10515600" cy="6115664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Supplier A Adaptor Service</a:t>
            </a:r>
          </a:p>
          <a:p>
            <a:pPr lvl="1"/>
            <a:r>
              <a:rPr lang="en-IN" dirty="0"/>
              <a:t>It understands Supplier A (Local) B2B application interface and places the order to Supplier A.</a:t>
            </a:r>
          </a:p>
          <a:p>
            <a:pPr lvl="1"/>
            <a:r>
              <a:rPr lang="en-IN" dirty="0"/>
              <a:t>Polls for the Supplier A topic and gets the orders to be placed to Supplier A.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Supplier B Adaptor Service:</a:t>
            </a:r>
          </a:p>
          <a:p>
            <a:pPr lvl="1"/>
            <a:r>
              <a:rPr lang="en-IN" dirty="0"/>
              <a:t>It understands Supplier B (International) B2B application interface and places the order to Supplier B.</a:t>
            </a:r>
          </a:p>
          <a:p>
            <a:pPr lvl="1"/>
            <a:r>
              <a:rPr lang="en-IN" dirty="0"/>
              <a:t>Polls for the Supplier B topic and gets the orders to be placed to Supplier B.</a:t>
            </a:r>
          </a:p>
          <a:p>
            <a:pPr lvl="1"/>
            <a:endParaRPr lang="en-IN" dirty="0"/>
          </a:p>
          <a:p>
            <a:r>
              <a:rPr lang="en-IN" dirty="0"/>
              <a:t>Kafka:</a:t>
            </a:r>
          </a:p>
          <a:p>
            <a:pPr lvl="1"/>
            <a:r>
              <a:rPr lang="en-IN" dirty="0"/>
              <a:t>Its backbone for asynchronous processing of item inventory updates, placing orders and can scale well in future.</a:t>
            </a:r>
          </a:p>
          <a:p>
            <a:pPr lvl="1"/>
            <a:endParaRPr lang="en-IN" dirty="0"/>
          </a:p>
          <a:p>
            <a:r>
              <a:rPr lang="en-IN" dirty="0"/>
              <a:t>API Gateway</a:t>
            </a:r>
          </a:p>
          <a:p>
            <a:pPr lvl="1"/>
            <a:r>
              <a:rPr lang="en-IN" dirty="0"/>
              <a:t>Exposes APIs of Inventory service and rest of the services are not accessible from the outside and are in private VPN.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3948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96E54-F4A0-D537-0A55-531001701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224"/>
          </a:xfrm>
        </p:spPr>
        <p:txBody>
          <a:bodyPr/>
          <a:lstStyle/>
          <a:p>
            <a:r>
              <a:rPr lang="en-IN" dirty="0"/>
              <a:t>Main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0A320-F252-59A3-3FB7-3BDBCB552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843"/>
            <a:ext cx="10515600" cy="4351338"/>
          </a:xfrm>
        </p:spPr>
        <p:txBody>
          <a:bodyPr/>
          <a:lstStyle/>
          <a:p>
            <a:r>
              <a:rPr lang="en-IN" dirty="0"/>
              <a:t>Inventory Service, Order Service they are de-coupled with the messaging infrastructure so that they can handle the back pressure and can scale well.</a:t>
            </a:r>
          </a:p>
          <a:p>
            <a:r>
              <a:rPr lang="en-IN" dirty="0"/>
              <a:t>Garage to actual supplier order is business to business (B2B) transaction and different supplier have different interfaces for integration with their systems and getting events.</a:t>
            </a:r>
          </a:p>
          <a:p>
            <a:r>
              <a:rPr lang="en-IN" dirty="0"/>
              <a:t>For Supplier A and B, separate adaptor service is created and de-coupled with Order service via messaging infrastructure for scaling and handling backpressure.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4623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6EC-F5E9-0DE3-930C-0F740775F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and 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9BB1E-EC90-3BB2-DA61-EA2F9BD70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Inventory service and Order service will have its own database and Redis cache.</a:t>
            </a:r>
          </a:p>
          <a:p>
            <a:r>
              <a:rPr lang="en-IN" dirty="0"/>
              <a:t>Database isolation can help in scaling up of the databases for different services as per requirement as Order services data is likely to grow faster compared to Inventory items.</a:t>
            </a:r>
          </a:p>
          <a:p>
            <a:r>
              <a:rPr lang="en-IN" dirty="0"/>
              <a:t>Redis caches are separate for these services so that it can scale up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2044097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569B-8163-871F-F332-711222347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/>
          <a:lstStyle/>
          <a:p>
            <a:r>
              <a:rPr lang="en-IN" dirty="0"/>
              <a:t>Items Service Sequence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0A2F52-463F-7C8B-C70B-2962FD536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4" y="1120878"/>
            <a:ext cx="11710220" cy="551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2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EBA88-3C30-84BC-600E-C1EB98BE8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3C588A6B-0E2F-EA6A-42F7-CFD0B2E18EAB}"/>
              </a:ext>
            </a:extLst>
          </p:cNvPr>
          <p:cNvSpPr/>
          <p:nvPr/>
        </p:nvSpPr>
        <p:spPr>
          <a:xfrm>
            <a:off x="983226" y="957387"/>
            <a:ext cx="9822426" cy="54237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ABD329-226F-F753-F62A-BA405B3EF260}"/>
              </a:ext>
            </a:extLst>
          </p:cNvPr>
          <p:cNvSpPr/>
          <p:nvPr/>
        </p:nvSpPr>
        <p:spPr>
          <a:xfrm>
            <a:off x="4734235" y="1151697"/>
            <a:ext cx="1641986" cy="8192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42121A-2B6A-8787-C2D3-31A05F4C6E87}"/>
              </a:ext>
            </a:extLst>
          </p:cNvPr>
          <p:cNvSpPr/>
          <p:nvPr/>
        </p:nvSpPr>
        <p:spPr>
          <a:xfrm>
            <a:off x="4707201" y="5082662"/>
            <a:ext cx="1759959" cy="83857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B364D4-2EF1-913C-479A-13B1D035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51" y="165253"/>
            <a:ext cx="10515600" cy="508359"/>
          </a:xfrm>
        </p:spPr>
        <p:txBody>
          <a:bodyPr>
            <a:normAutofit fontScale="90000"/>
          </a:bodyPr>
          <a:lstStyle/>
          <a:p>
            <a:r>
              <a:rPr lang="en-IN" dirty="0"/>
              <a:t>Deployment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E4A376-9239-A34A-8E3D-00F3006F0DFE}"/>
              </a:ext>
            </a:extLst>
          </p:cNvPr>
          <p:cNvSpPr/>
          <p:nvPr/>
        </p:nvSpPr>
        <p:spPr>
          <a:xfrm>
            <a:off x="4616245" y="1275503"/>
            <a:ext cx="1641986" cy="8192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Inventory 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6A553F-D7C5-381D-C991-D84B054BCBBD}"/>
              </a:ext>
            </a:extLst>
          </p:cNvPr>
          <p:cNvSpPr/>
          <p:nvPr/>
        </p:nvSpPr>
        <p:spPr>
          <a:xfrm>
            <a:off x="4514236" y="5228998"/>
            <a:ext cx="1838631" cy="77040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Order Service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692EB5-4565-E186-3C59-8ED9FBC8E3EA}"/>
              </a:ext>
            </a:extLst>
          </p:cNvPr>
          <p:cNvSpPr/>
          <p:nvPr/>
        </p:nvSpPr>
        <p:spPr>
          <a:xfrm>
            <a:off x="3134031" y="3009273"/>
            <a:ext cx="1107357" cy="80942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API Gateway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0725D0-002F-863F-5536-05C128C1474C}"/>
              </a:ext>
            </a:extLst>
          </p:cNvPr>
          <p:cNvSpPr/>
          <p:nvPr/>
        </p:nvSpPr>
        <p:spPr>
          <a:xfrm>
            <a:off x="3134644" y="1390619"/>
            <a:ext cx="1107359" cy="637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 Balancer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C0EDD7-0F8A-3D62-0D49-02D900645774}"/>
              </a:ext>
            </a:extLst>
          </p:cNvPr>
          <p:cNvSpPr/>
          <p:nvPr/>
        </p:nvSpPr>
        <p:spPr>
          <a:xfrm>
            <a:off x="3048611" y="5281650"/>
            <a:ext cx="1278198" cy="637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Load Balancer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5E6D80-5979-2E81-0D28-1315252013A3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687710" y="2028387"/>
            <a:ext cx="9220" cy="9808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DFB98B-D680-AC42-2F3D-23B1650B97AA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3687710" y="3818702"/>
            <a:ext cx="0" cy="14629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887AFB-9F87-BCFE-CEE6-537C74760AF2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V="1">
            <a:off x="4242003" y="1685103"/>
            <a:ext cx="374242" cy="2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662C3E-D885-69EB-A07F-1FD3C2ECE12D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>
            <a:off x="4326809" y="5600534"/>
            <a:ext cx="187427" cy="136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92938CD-BF13-2B84-3297-2B146576FBA7}"/>
              </a:ext>
            </a:extLst>
          </p:cNvPr>
          <p:cNvSpPr/>
          <p:nvPr/>
        </p:nvSpPr>
        <p:spPr>
          <a:xfrm>
            <a:off x="4537590" y="3048301"/>
            <a:ext cx="1838631" cy="77040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Kafka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F8C9DA-F5C4-0D8C-CFFB-45D59C52AD48}"/>
              </a:ext>
            </a:extLst>
          </p:cNvPr>
          <p:cNvSpPr/>
          <p:nvPr/>
        </p:nvSpPr>
        <p:spPr>
          <a:xfrm>
            <a:off x="9060432" y="2375000"/>
            <a:ext cx="1622319" cy="86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Supplier A Order Adaptor Service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6ED36A-CE67-1E25-CEF7-AD99CF3279DF}"/>
              </a:ext>
            </a:extLst>
          </p:cNvPr>
          <p:cNvSpPr/>
          <p:nvPr/>
        </p:nvSpPr>
        <p:spPr>
          <a:xfrm>
            <a:off x="9003282" y="4245227"/>
            <a:ext cx="1671479" cy="8659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Supplier B Order Adaptor Service</a:t>
            </a:r>
          </a:p>
        </p:txBody>
      </p:sp>
      <p:sp>
        <p:nvSpPr>
          <p:cNvPr id="44" name="Cylinder 43">
            <a:extLst>
              <a:ext uri="{FF2B5EF4-FFF2-40B4-BE49-F238E27FC236}">
                <a16:creationId xmlns:a16="http://schemas.microsoft.com/office/drawing/2014/main" id="{5E64C2DD-B1C2-565B-C3DC-DEDD1EDE23F2}"/>
              </a:ext>
            </a:extLst>
          </p:cNvPr>
          <p:cNvSpPr/>
          <p:nvPr/>
        </p:nvSpPr>
        <p:spPr>
          <a:xfrm>
            <a:off x="7079225" y="949231"/>
            <a:ext cx="1686236" cy="95302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Inventory RDS Postgres DB</a:t>
            </a:r>
          </a:p>
        </p:txBody>
      </p:sp>
      <p:sp>
        <p:nvSpPr>
          <p:cNvPr id="45" name="Cylinder 44">
            <a:extLst>
              <a:ext uri="{FF2B5EF4-FFF2-40B4-BE49-F238E27FC236}">
                <a16:creationId xmlns:a16="http://schemas.microsoft.com/office/drawing/2014/main" id="{0F2E7B12-17D0-5A3C-7980-7D5630A03453}"/>
              </a:ext>
            </a:extLst>
          </p:cNvPr>
          <p:cNvSpPr/>
          <p:nvPr/>
        </p:nvSpPr>
        <p:spPr>
          <a:xfrm>
            <a:off x="6986438" y="5167583"/>
            <a:ext cx="1524608" cy="86590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Order RDS Postgres DB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99635D9-AB0F-5BB7-28A7-C4DDD5C9DE0A}"/>
              </a:ext>
            </a:extLst>
          </p:cNvPr>
          <p:cNvCxnSpPr>
            <a:cxnSpLocks/>
            <a:stCxn id="35" idx="3"/>
            <a:endCxn id="44" idx="2"/>
          </p:cNvCxnSpPr>
          <p:nvPr/>
        </p:nvCxnSpPr>
        <p:spPr>
          <a:xfrm flipV="1">
            <a:off x="6376221" y="1425743"/>
            <a:ext cx="703004" cy="1355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2915364-93DD-C17C-CC4C-A522DDABB3CE}"/>
              </a:ext>
            </a:extLst>
          </p:cNvPr>
          <p:cNvCxnSpPr>
            <a:cxnSpLocks/>
            <a:stCxn id="6" idx="3"/>
            <a:endCxn id="45" idx="2"/>
          </p:cNvCxnSpPr>
          <p:nvPr/>
        </p:nvCxnSpPr>
        <p:spPr>
          <a:xfrm>
            <a:off x="6467160" y="5501947"/>
            <a:ext cx="519278" cy="985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552D0C0-1977-C4EF-B6AF-6AAC1A1758F6}"/>
              </a:ext>
            </a:extLst>
          </p:cNvPr>
          <p:cNvCxnSpPr>
            <a:cxnSpLocks/>
            <a:stCxn id="4" idx="2"/>
            <a:endCxn id="28" idx="0"/>
          </p:cNvCxnSpPr>
          <p:nvPr/>
        </p:nvCxnSpPr>
        <p:spPr>
          <a:xfrm>
            <a:off x="5437238" y="2094703"/>
            <a:ext cx="19668" cy="953598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A9932FD-0D25-AB25-771F-B886E50DEB89}"/>
              </a:ext>
            </a:extLst>
          </p:cNvPr>
          <p:cNvCxnSpPr>
            <a:cxnSpLocks/>
            <a:stCxn id="28" idx="2"/>
            <a:endCxn id="5" idx="0"/>
          </p:cNvCxnSpPr>
          <p:nvPr/>
        </p:nvCxnSpPr>
        <p:spPr>
          <a:xfrm flipH="1">
            <a:off x="5433552" y="3818702"/>
            <a:ext cx="23354" cy="141029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13BD897-11A7-A4D9-5D24-434F9D11CA2A}"/>
              </a:ext>
            </a:extLst>
          </p:cNvPr>
          <p:cNvCxnSpPr>
            <a:cxnSpLocks/>
            <a:stCxn id="28" idx="3"/>
            <a:endCxn id="30" idx="0"/>
          </p:cNvCxnSpPr>
          <p:nvPr/>
        </p:nvCxnSpPr>
        <p:spPr>
          <a:xfrm>
            <a:off x="6376221" y="3433502"/>
            <a:ext cx="3462801" cy="811725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E8C6817-83E6-BE48-0865-E8ED97DE2B8D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 flipV="1">
            <a:off x="6376221" y="2807951"/>
            <a:ext cx="2684211" cy="62555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Cylinder 95">
            <a:extLst>
              <a:ext uri="{FF2B5EF4-FFF2-40B4-BE49-F238E27FC236}">
                <a16:creationId xmlns:a16="http://schemas.microsoft.com/office/drawing/2014/main" id="{74E1148A-CA2C-A831-E2DA-5BBE54DCEA09}"/>
              </a:ext>
            </a:extLst>
          </p:cNvPr>
          <p:cNvSpPr/>
          <p:nvPr/>
        </p:nvSpPr>
        <p:spPr>
          <a:xfrm>
            <a:off x="6986438" y="4301681"/>
            <a:ext cx="1524608" cy="75299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Order Redis Cache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40E983A-9426-A332-5871-D717B99F7A0C}"/>
              </a:ext>
            </a:extLst>
          </p:cNvPr>
          <p:cNvCxnSpPr>
            <a:cxnSpLocks/>
            <a:stCxn id="6" idx="3"/>
            <a:endCxn id="96" idx="2"/>
          </p:cNvCxnSpPr>
          <p:nvPr/>
        </p:nvCxnSpPr>
        <p:spPr>
          <a:xfrm flipV="1">
            <a:off x="6467160" y="4678178"/>
            <a:ext cx="519278" cy="8237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Cylinder 99">
            <a:extLst>
              <a:ext uri="{FF2B5EF4-FFF2-40B4-BE49-F238E27FC236}">
                <a16:creationId xmlns:a16="http://schemas.microsoft.com/office/drawing/2014/main" id="{BE63054B-9747-C81E-F706-0821C087FD21}"/>
              </a:ext>
            </a:extLst>
          </p:cNvPr>
          <p:cNvSpPr/>
          <p:nvPr/>
        </p:nvSpPr>
        <p:spPr>
          <a:xfrm>
            <a:off x="7079224" y="1943861"/>
            <a:ext cx="1622319" cy="71784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Inventory Redis Cache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0E79472-7F82-DC48-DBF4-D6DCAAEB0E8F}"/>
              </a:ext>
            </a:extLst>
          </p:cNvPr>
          <p:cNvCxnSpPr>
            <a:cxnSpLocks/>
            <a:endCxn id="100" idx="2"/>
          </p:cNvCxnSpPr>
          <p:nvPr/>
        </p:nvCxnSpPr>
        <p:spPr>
          <a:xfrm>
            <a:off x="6376221" y="1616192"/>
            <a:ext cx="703003" cy="6865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99BBA1D-45B0-52AD-F675-F74C9D1C3F66}"/>
              </a:ext>
            </a:extLst>
          </p:cNvPr>
          <p:cNvSpPr/>
          <p:nvPr/>
        </p:nvSpPr>
        <p:spPr>
          <a:xfrm>
            <a:off x="1173730" y="3075590"/>
            <a:ext cx="1469922" cy="637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Garage Web Application</a:t>
            </a: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13F0187C-2AC5-CAE0-FCDD-510F9B592AE5}"/>
              </a:ext>
            </a:extLst>
          </p:cNvPr>
          <p:cNvCxnSpPr>
            <a:cxnSpLocks/>
            <a:stCxn id="136" idx="3"/>
            <a:endCxn id="8" idx="1"/>
          </p:cNvCxnSpPr>
          <p:nvPr/>
        </p:nvCxnSpPr>
        <p:spPr>
          <a:xfrm>
            <a:off x="2643652" y="3394474"/>
            <a:ext cx="490379" cy="195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F69DB113-E812-514B-995C-6047970CC8F7}"/>
              </a:ext>
            </a:extLst>
          </p:cNvPr>
          <p:cNvSpPr txBox="1"/>
          <p:nvPr/>
        </p:nvSpPr>
        <p:spPr>
          <a:xfrm>
            <a:off x="1149469" y="938582"/>
            <a:ext cx="2792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Garage Cloud Solution 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B643F96-FF3D-B0A2-4E50-B4FFD185F4B7}"/>
              </a:ext>
            </a:extLst>
          </p:cNvPr>
          <p:cNvSpPr/>
          <p:nvPr/>
        </p:nvSpPr>
        <p:spPr>
          <a:xfrm>
            <a:off x="3941830" y="4301681"/>
            <a:ext cx="1107357" cy="58293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Cloud Schedular</a:t>
            </a: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6E704A9C-5DCF-10F5-2BC1-822DCD06EB0D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4514236" y="3818702"/>
            <a:ext cx="942670" cy="482979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407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600</Words>
  <Application>Microsoft Office PowerPoint</Application>
  <PresentationFormat>Widescreen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Garage B Solution</vt:lpstr>
      <vt:lpstr>HLD</vt:lpstr>
      <vt:lpstr>Solution Components</vt:lpstr>
      <vt:lpstr>Services Details</vt:lpstr>
      <vt:lpstr>Services Details</vt:lpstr>
      <vt:lpstr>Main Idea</vt:lpstr>
      <vt:lpstr>Database and Caching</vt:lpstr>
      <vt:lpstr>Items Service Sequence Diagram</vt:lpstr>
      <vt:lpstr>Deployment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Shailesh Kulkarni</dc:creator>
  <cp:lastModifiedBy>Shailesh Kulkarni</cp:lastModifiedBy>
  <cp:revision>3</cp:revision>
  <dcterms:created xsi:type="dcterms:W3CDTF">2025-01-11T10:13:27Z</dcterms:created>
  <dcterms:modified xsi:type="dcterms:W3CDTF">2025-01-13T07:27:41Z</dcterms:modified>
</cp:coreProperties>
</file>